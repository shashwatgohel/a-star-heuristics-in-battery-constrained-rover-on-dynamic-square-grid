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Helvetica Neue"/>
      <p:regular r:id="rId21"/>
      <p:bold r:id="rId22"/>
      <p:italic r:id="rId23"/>
      <p:boldItalic r:id="rId24"/>
    </p:embeddedFont>
    <p:embeddedFont>
      <p:font typeface="Helvetica Neue Ligh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12F5D6-5523-4805-9795-797193D3FA4D}">
  <a:tblStyle styleId="{6F12F5D6-5523-4805-9795-797193D3FA4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HelveticaNeue-bold.fntdata"/><Relationship Id="rId21" Type="http://schemas.openxmlformats.org/officeDocument/2006/relationships/font" Target="fonts/HelveticaNeue-regular.fntdata"/><Relationship Id="rId24" Type="http://schemas.openxmlformats.org/officeDocument/2006/relationships/font" Target="fonts/HelveticaNeue-boldItalic.fntdata"/><Relationship Id="rId23" Type="http://schemas.openxmlformats.org/officeDocument/2006/relationships/font" Target="fonts/HelveticaNeue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Light-bold.fntdata"/><Relationship Id="rId25" Type="http://schemas.openxmlformats.org/officeDocument/2006/relationships/font" Target="fonts/HelveticaNeueLight-regular.fntdata"/><Relationship Id="rId28" Type="http://schemas.openxmlformats.org/officeDocument/2006/relationships/font" Target="fonts/HelveticaNeueLight-boldItalic.fntdata"/><Relationship Id="rId27" Type="http://schemas.openxmlformats.org/officeDocument/2006/relationships/font" Target="fonts/HelveticaNeueLigh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9d1270d15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99d1270d15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9d1270d15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99d1270d15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9d1270d15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99d1270d15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9d1270d15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99d1270d15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99d1270d15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99d1270d15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9d1270d15_0_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399d1270d15_0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99d1270d15_1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99d1270d15_1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99d1270d15_1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9d1270d15_1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99d1270d15_1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99d1270d15_1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9d1270d15_0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99d1270d15_0_1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99d1270d15_0_1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9d1270d15_1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99d1270d15_1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99d1270d15_1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9d1270d15_1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99d1270d15_1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99d1270d15_1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9d1270d15_1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99d1270d15_1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99d1270d15_1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rgbClr val="801B19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type="title"/>
          </p:nvPr>
        </p:nvSpPr>
        <p:spPr>
          <a:xfrm>
            <a:off x="844150" y="3874808"/>
            <a:ext cx="10515600" cy="835416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3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2932" y="1479396"/>
            <a:ext cx="4106136" cy="134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  <a:defRPr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b="0" i="0" sz="200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52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47" name="Google Shape;47;p6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7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6" name="Google Shape;56;p8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8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4" name="Google Shape;64;p9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0" name="Google Shape;70;p10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1" name="Google Shape;71;p10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6" name="Google Shape;76;p1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7" name="Google Shape;77;p11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82" name="Google Shape;82;p12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3" name="Google Shape;83;p12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b="0" i="0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1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1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1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7" name="Google Shape;17;p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gif"/><Relationship Id="rId4" Type="http://schemas.openxmlformats.org/officeDocument/2006/relationships/hyperlink" Target="http://drive.google.com/file/d/1HlD-IpvosNcE2NVqwbkjPJ5tUZFCqDet/view" TargetMode="External"/><Relationship Id="rId5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gif"/><Relationship Id="rId4" Type="http://schemas.openxmlformats.org/officeDocument/2006/relationships/hyperlink" Target="http://drive.google.com/file/d/1TMxXRylo_9CUcUMmDcOsuuUCRkYZJv5e/view" TargetMode="External"/><Relationship Id="rId5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gif"/><Relationship Id="rId4" Type="http://schemas.openxmlformats.org/officeDocument/2006/relationships/hyperlink" Target="http://drive.google.com/file/d/17aMWFIoaSmWNO8p3TIetFItLg7coat6S/view" TargetMode="External"/><Relationship Id="rId5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gif"/><Relationship Id="rId4" Type="http://schemas.openxmlformats.org/officeDocument/2006/relationships/hyperlink" Target="http://drive.google.com/file/d/1sTWR0ks4tvNsNDtk0xZeU0Z9hvyjaDoo/view" TargetMode="External"/><Relationship Id="rId5" Type="http://schemas.openxmlformats.org/officeDocument/2006/relationships/image" Target="../media/image1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CnOjTpKaaNS658gWzMa5x7aqbye5kAo1/view" TargetMode="External"/><Relationship Id="rId4" Type="http://schemas.openxmlformats.org/officeDocument/2006/relationships/image" Target="../media/image1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mlm43q_6pKReqM8K4kdLbjxmH92x_XBS/view" TargetMode="External"/><Relationship Id="rId4" Type="http://schemas.openxmlformats.org/officeDocument/2006/relationships/image" Target="../media/image1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792900" y="3280233"/>
            <a:ext cx="10515600" cy="835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300">
                <a:latin typeface="Times New Roman"/>
                <a:ea typeface="Times New Roman"/>
                <a:cs typeface="Times New Roman"/>
                <a:sym typeface="Times New Roman"/>
              </a:rPr>
              <a:t>CSE518 : Artificial Intelligence </a:t>
            </a:r>
            <a:endParaRPr sz="4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 txBox="1"/>
          <p:nvPr>
            <p:ph type="title"/>
          </p:nvPr>
        </p:nvSpPr>
        <p:spPr>
          <a:xfrm>
            <a:off x="792900" y="4228483"/>
            <a:ext cx="10515600" cy="835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3800">
                <a:latin typeface="Times New Roman"/>
                <a:ea typeface="Times New Roman"/>
                <a:cs typeface="Times New Roman"/>
                <a:sym typeface="Times New Roman"/>
              </a:rPr>
              <a:t>Project Presentation</a:t>
            </a:r>
            <a:endParaRPr b="0" sz="3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3"/>
          <p:cNvSpPr txBox="1"/>
          <p:nvPr>
            <p:ph type="title"/>
          </p:nvPr>
        </p:nvSpPr>
        <p:spPr>
          <a:xfrm>
            <a:off x="838200" y="5129183"/>
            <a:ext cx="10515600" cy="8355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2600">
                <a:latin typeface="Times New Roman"/>
                <a:ea typeface="Times New Roman"/>
                <a:cs typeface="Times New Roman"/>
                <a:sym typeface="Times New Roman"/>
              </a:rPr>
              <a:t>Feni Vithani - AU2340119</a:t>
            </a:r>
            <a:endParaRPr b="0"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US" sz="2600">
                <a:latin typeface="Times New Roman"/>
                <a:ea typeface="Times New Roman"/>
                <a:cs typeface="Times New Roman"/>
                <a:sym typeface="Times New Roman"/>
              </a:rPr>
              <a:t>Shashwat Gohel - AU2340235</a:t>
            </a:r>
            <a:endParaRPr b="0"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599525" y="136292"/>
            <a:ext cx="10515600" cy="10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 sz="6000">
                <a:latin typeface="Arial"/>
                <a:ea typeface="Arial"/>
                <a:cs typeface="Arial"/>
                <a:sym typeface="Arial"/>
              </a:rPr>
              <a:t>A Reflex Rover Agent</a:t>
            </a:r>
            <a:endParaRPr sz="6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762150" y="1139568"/>
            <a:ext cx="105156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rPr b="1" lang="en-US" sz="2600"/>
              <a:t>Battery-Aware Path Planning in </a:t>
            </a:r>
            <a:r>
              <a:rPr b="1" lang="en-US" sz="2600"/>
              <a:t>Dynamic </a:t>
            </a:r>
            <a:r>
              <a:rPr b="1" lang="en-US" sz="2600"/>
              <a:t>Terrain</a:t>
            </a:r>
            <a:endParaRPr sz="2600"/>
          </a:p>
        </p:txBody>
      </p:sp>
      <p:sp>
        <p:nvSpPr>
          <p:cNvPr id="97" name="Google Shape;97;p1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1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99" name="Google Shape;9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7550" y="1669668"/>
            <a:ext cx="5659544" cy="4802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1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sp>
        <p:nvSpPr>
          <p:cNvPr id="106" name="Google Shape;106;p15"/>
          <p:cNvSpPr txBox="1"/>
          <p:nvPr>
            <p:ph type="title"/>
          </p:nvPr>
        </p:nvSpPr>
        <p:spPr>
          <a:xfrm>
            <a:off x="599525" y="136292"/>
            <a:ext cx="10515600" cy="10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 sz="6000">
                <a:latin typeface="Arial"/>
                <a:ea typeface="Arial"/>
                <a:cs typeface="Arial"/>
                <a:sym typeface="Arial"/>
              </a:rPr>
              <a:t>The Grid and the Terrain</a:t>
            </a:r>
            <a:endParaRPr sz="6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5"/>
          <p:cNvSpPr txBox="1"/>
          <p:nvPr>
            <p:ph idx="1" type="body"/>
          </p:nvPr>
        </p:nvSpPr>
        <p:spPr>
          <a:xfrm>
            <a:off x="267175" y="1395150"/>
            <a:ext cx="6113700" cy="45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</a:pPr>
            <a:r>
              <a:rPr b="1" lang="en-US" sz="2600">
                <a:latin typeface="Helvetica Neue"/>
                <a:ea typeface="Helvetica Neue"/>
                <a:cs typeface="Helvetica Neue"/>
                <a:sym typeface="Helvetica Neue"/>
              </a:rPr>
              <a:t>7 types of Terrains :</a:t>
            </a:r>
            <a:endParaRPr b="1"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5719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74"/>
              <a:buFont typeface="Arial"/>
              <a:buChar char="●"/>
            </a:pPr>
            <a:r>
              <a:rPr lang="en-US" sz="2600">
                <a:latin typeface="Helvetica Neue"/>
                <a:ea typeface="Helvetica Neue"/>
                <a:cs typeface="Helvetica Neue"/>
                <a:sym typeface="Helvetica Neue"/>
              </a:rPr>
              <a:t>Sandy (Yellow) - Cost:10</a:t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5719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74"/>
              <a:buFont typeface="Arial"/>
              <a:buChar char="●"/>
            </a:pPr>
            <a:r>
              <a:rPr lang="en-US" sz="2600">
                <a:latin typeface="Helvetica Neue"/>
                <a:ea typeface="Helvetica Neue"/>
                <a:cs typeface="Helvetica Neue"/>
                <a:sym typeface="Helvetica Neue"/>
              </a:rPr>
              <a:t>Rock (Brown) - Blocked</a:t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5719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74"/>
              <a:buFont typeface="Arial"/>
              <a:buChar char="●"/>
            </a:pPr>
            <a:r>
              <a:rPr lang="en-US" sz="2600">
                <a:latin typeface="Helvetica Neue"/>
                <a:ea typeface="Helvetica Neue"/>
                <a:cs typeface="Helvetica Neue"/>
                <a:sym typeface="Helvetica Neue"/>
              </a:rPr>
              <a:t>Recharge (Blue) - Cost: 5 + Full Charge</a:t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5719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74"/>
              <a:buFont typeface="Arial"/>
              <a:buChar char="●"/>
            </a:pPr>
            <a:r>
              <a:rPr lang="en-US" sz="2600">
                <a:latin typeface="Helvetica Neue"/>
                <a:ea typeface="Helvetica Neue"/>
                <a:cs typeface="Helvetica Neue"/>
                <a:sym typeface="Helvetica Neue"/>
              </a:rPr>
              <a:t>Hazardous (Orange) - Cost: 15</a:t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5719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74"/>
              <a:buFont typeface="Arial"/>
              <a:buChar char="●"/>
            </a:pPr>
            <a:r>
              <a:rPr lang="en-US" sz="2600">
                <a:latin typeface="Helvetica Neue"/>
                <a:ea typeface="Helvetica Neue"/>
                <a:cs typeface="Helvetica Neue"/>
                <a:sym typeface="Helvetica Neue"/>
              </a:rPr>
              <a:t>Trap (Purple) - Cost: 20</a:t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5719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74"/>
              <a:buFont typeface="Arial"/>
              <a:buChar char="●"/>
            </a:pPr>
            <a:r>
              <a:rPr lang="en-US" sz="2600">
                <a:latin typeface="Helvetica Neue"/>
                <a:ea typeface="Helvetica Neue"/>
                <a:cs typeface="Helvetica Neue"/>
                <a:sym typeface="Helvetica Neue"/>
              </a:rPr>
              <a:t>Cliff (Gray) - Blocked</a:t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5719" lvl="0" marL="1371600" rtl="0" algn="l">
              <a:spcBef>
                <a:spcPts val="0"/>
              </a:spcBef>
              <a:spcAft>
                <a:spcPts val="0"/>
              </a:spcAft>
              <a:buSzPts val="2474"/>
              <a:buFont typeface="Helvetica Neue"/>
              <a:buChar char="●"/>
            </a:pPr>
            <a:r>
              <a:rPr lang="en-US" sz="2600">
                <a:latin typeface="Helvetica Neue"/>
                <a:ea typeface="Helvetica Neue"/>
                <a:cs typeface="Helvetica Neue"/>
                <a:sym typeface="Helvetica Neue"/>
              </a:rPr>
              <a:t>Flat (Green) : Cost = 5</a:t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8" name="Google Shape;10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3275" y="1346192"/>
            <a:ext cx="4786083" cy="4786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16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sp>
        <p:nvSpPr>
          <p:cNvPr id="115" name="Google Shape;115;p16"/>
          <p:cNvSpPr txBox="1"/>
          <p:nvPr>
            <p:ph type="title"/>
          </p:nvPr>
        </p:nvSpPr>
        <p:spPr>
          <a:xfrm>
            <a:off x="599525" y="136292"/>
            <a:ext cx="10515600" cy="10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 sz="6000">
                <a:latin typeface="Arial"/>
                <a:ea typeface="Arial"/>
                <a:cs typeface="Arial"/>
                <a:sym typeface="Arial"/>
              </a:rPr>
              <a:t>Rover Movement</a:t>
            </a:r>
            <a:endParaRPr sz="6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6"/>
          <p:cNvSpPr txBox="1"/>
          <p:nvPr>
            <p:ph idx="1" type="body"/>
          </p:nvPr>
        </p:nvSpPr>
        <p:spPr>
          <a:xfrm>
            <a:off x="267175" y="1395150"/>
            <a:ext cx="6113700" cy="45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latin typeface="Helvetica Neue"/>
                <a:ea typeface="Helvetica Neue"/>
                <a:cs typeface="Helvetica Neue"/>
                <a:sym typeface="Helvetica Neue"/>
              </a:rPr>
              <a:t>Movement : </a:t>
            </a:r>
            <a:endParaRPr b="1" sz="2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Helvetica Neue"/>
              <a:buChar char="•"/>
            </a:pPr>
            <a:r>
              <a:rPr lang="en-US" sz="2600">
                <a:latin typeface="Helvetica Neue"/>
                <a:ea typeface="Helvetica Neue"/>
                <a:cs typeface="Helvetica Neue"/>
                <a:sym typeface="Helvetica Neue"/>
              </a:rPr>
              <a:t>4 - directional movement. </a:t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Helvetica Neue"/>
              <a:buChar char="•"/>
            </a:pPr>
            <a:r>
              <a:rPr lang="en-US" sz="2600">
                <a:latin typeface="Helvetica Neue"/>
                <a:ea typeface="Helvetica Neue"/>
                <a:cs typeface="Helvetica Neue"/>
                <a:sym typeface="Helvetica Neue"/>
              </a:rPr>
              <a:t>Cost = Terrain Cost * 1.0</a:t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latin typeface="Helvetica Neue"/>
                <a:ea typeface="Helvetica Neue"/>
                <a:cs typeface="Helvetica Neue"/>
                <a:sym typeface="Helvetica Neue"/>
              </a:rPr>
              <a:t>A* </a:t>
            </a:r>
            <a:r>
              <a:rPr b="1" lang="en-US" sz="2600">
                <a:latin typeface="Helvetica Neue"/>
                <a:ea typeface="Helvetica Neue"/>
                <a:cs typeface="Helvetica Neue"/>
                <a:sym typeface="Helvetica Neue"/>
              </a:rPr>
              <a:t>Algorithm</a:t>
            </a:r>
            <a:r>
              <a:rPr b="1" lang="en-US" sz="2600">
                <a:latin typeface="Helvetica Neue"/>
                <a:ea typeface="Helvetica Neue"/>
                <a:cs typeface="Helvetica Neue"/>
                <a:sym typeface="Helvetica Neue"/>
              </a:rPr>
              <a:t> : </a:t>
            </a:r>
            <a:endParaRPr b="1" sz="2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Helvetica Neue"/>
              <a:buChar char="•"/>
            </a:pPr>
            <a:r>
              <a:rPr lang="en-US" sz="2600">
                <a:latin typeface="Helvetica Neue"/>
                <a:ea typeface="Helvetica Neue"/>
                <a:cs typeface="Helvetica Neue"/>
                <a:sym typeface="Helvetica Neue"/>
              </a:rPr>
              <a:t>f(n) = g(n) + h(n). </a:t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Helvetica Neue"/>
              <a:buChar char="•"/>
            </a:pPr>
            <a:r>
              <a:rPr lang="en-US" sz="2600">
                <a:latin typeface="Helvetica Neue"/>
                <a:ea typeface="Helvetica Neue"/>
                <a:cs typeface="Helvetica Neue"/>
                <a:sym typeface="Helvetica Neue"/>
              </a:rPr>
              <a:t>g(n) = Actual Cost from the Start</a:t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Helvetica Neue"/>
              <a:buChar char="•"/>
            </a:pPr>
            <a:r>
              <a:rPr lang="en-US" sz="2600">
                <a:latin typeface="Helvetica Neue"/>
                <a:ea typeface="Helvetica Neue"/>
                <a:cs typeface="Helvetica Neue"/>
                <a:sym typeface="Helvetica Neue"/>
              </a:rPr>
              <a:t>f(n) = Heuristics Guess</a:t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latin typeface="Helvetica Neue"/>
                <a:ea typeface="Helvetica Neue"/>
                <a:cs typeface="Helvetica Neue"/>
                <a:sym typeface="Helvetica Neue"/>
              </a:rPr>
              <a:t>Completely Skips the Rocks, Cliff blocks</a:t>
            </a:r>
            <a:endParaRPr b="1" sz="2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7" name="Google Shape;11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3500" y="1395150"/>
            <a:ext cx="4742525" cy="474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" name="Google Shape;123;p17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sp>
        <p:nvSpPr>
          <p:cNvPr id="124" name="Google Shape;124;p17"/>
          <p:cNvSpPr txBox="1"/>
          <p:nvPr>
            <p:ph type="title"/>
          </p:nvPr>
        </p:nvSpPr>
        <p:spPr>
          <a:xfrm>
            <a:off x="599525" y="136292"/>
            <a:ext cx="10515600" cy="10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 sz="6000">
                <a:latin typeface="Arial"/>
                <a:ea typeface="Arial"/>
                <a:cs typeface="Arial"/>
                <a:sym typeface="Arial"/>
              </a:rPr>
              <a:t>4 - Heuristics</a:t>
            </a:r>
            <a:endParaRPr sz="6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267175" y="1395150"/>
            <a:ext cx="11638200" cy="45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Helvetica Neue"/>
              <a:buAutoNum type="arabicPeriod"/>
            </a:pPr>
            <a:r>
              <a:rPr b="1" lang="en-US" sz="2600">
                <a:latin typeface="Helvetica Neue"/>
                <a:ea typeface="Helvetica Neue"/>
                <a:cs typeface="Helvetica Neue"/>
                <a:sym typeface="Helvetica Neue"/>
              </a:rPr>
              <a:t>Manhattan :</a:t>
            </a:r>
            <a:endParaRPr b="1" sz="2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Helvetica Neue"/>
                <a:ea typeface="Helvetica Neue"/>
                <a:cs typeface="Helvetica Neue"/>
                <a:sym typeface="Helvetica Neue"/>
              </a:rPr>
              <a:t>Movement Like the blocks in the city ( Left, Right, Up and Down) . </a:t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Helvetica Neue"/>
              <a:buAutoNum type="arabicPeriod"/>
            </a:pPr>
            <a:r>
              <a:rPr b="1" lang="en-US" sz="2600">
                <a:latin typeface="Helvetica Neue"/>
                <a:ea typeface="Helvetica Neue"/>
                <a:cs typeface="Helvetica Neue"/>
                <a:sym typeface="Helvetica Neue"/>
              </a:rPr>
              <a:t>Euclidian : </a:t>
            </a:r>
            <a:endParaRPr b="1" sz="2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Helvetica Neue"/>
                <a:ea typeface="Helvetica Neue"/>
                <a:cs typeface="Helvetica Neue"/>
                <a:sym typeface="Helvetica Neue"/>
              </a:rPr>
              <a:t>The straight line Distance between 2 points - just like measuring distance with ruler. </a:t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Helvetica Neue"/>
              <a:buAutoNum type="arabicPeriod"/>
            </a:pPr>
            <a:r>
              <a:rPr b="1" lang="en-US" sz="2600">
                <a:latin typeface="Helvetica Neue"/>
                <a:ea typeface="Helvetica Neue"/>
                <a:cs typeface="Helvetica Neue"/>
                <a:sym typeface="Helvetica Neue"/>
              </a:rPr>
              <a:t>Terrain Penalized : </a:t>
            </a:r>
            <a:endParaRPr b="1" sz="2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600">
                <a:latin typeface="Helvetica Neue"/>
                <a:ea typeface="Helvetica Neue"/>
                <a:cs typeface="Helvetica Neue"/>
                <a:sym typeface="Helvetica Neue"/>
              </a:rPr>
              <a:t>	Adds a penalty proportionals to local terrain cost . </a:t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Helvetica Neue"/>
              <a:buAutoNum type="arabicPeriod"/>
            </a:pPr>
            <a:r>
              <a:rPr b="1" lang="en-US" sz="2600">
                <a:latin typeface="Helvetica Neue"/>
                <a:ea typeface="Helvetica Neue"/>
                <a:cs typeface="Helvetica Neue"/>
                <a:sym typeface="Helvetica Neue"/>
              </a:rPr>
              <a:t>Path of Least Regret:  </a:t>
            </a:r>
            <a:endParaRPr b="1" sz="2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Helvetica Neue"/>
                <a:ea typeface="Helvetica Neue"/>
                <a:cs typeface="Helvetica Neue"/>
                <a:sym typeface="Helvetica Neue"/>
              </a:rPr>
              <a:t>		Prevents the rover from moving into a area of </a:t>
            </a:r>
            <a:r>
              <a:rPr lang="en-US" sz="2600">
                <a:latin typeface="Helvetica Neue"/>
                <a:ea typeface="Helvetica Neue"/>
                <a:cs typeface="Helvetica Neue"/>
                <a:sym typeface="Helvetica Neue"/>
              </a:rPr>
              <a:t>varying</a:t>
            </a:r>
            <a:r>
              <a:rPr lang="en-US" sz="2600">
                <a:latin typeface="Helvetica Neue"/>
                <a:ea typeface="Helvetica Neue"/>
                <a:cs typeface="Helvetica Neue"/>
                <a:sym typeface="Helvetica Neue"/>
              </a:rPr>
              <a:t> terrain</a:t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18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sp>
        <p:nvSpPr>
          <p:cNvPr id="132" name="Google Shape;132;p18"/>
          <p:cNvSpPr txBox="1"/>
          <p:nvPr>
            <p:ph type="title"/>
          </p:nvPr>
        </p:nvSpPr>
        <p:spPr>
          <a:xfrm>
            <a:off x="599525" y="136292"/>
            <a:ext cx="10515600" cy="10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 sz="6000">
                <a:latin typeface="Arial"/>
                <a:ea typeface="Arial"/>
                <a:cs typeface="Arial"/>
                <a:sym typeface="Arial"/>
              </a:rPr>
              <a:t>Manhattan Heuristics</a:t>
            </a:r>
            <a:endParaRPr sz="6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8"/>
          <p:cNvSpPr txBox="1"/>
          <p:nvPr>
            <p:ph idx="1" type="body"/>
          </p:nvPr>
        </p:nvSpPr>
        <p:spPr>
          <a:xfrm>
            <a:off x="267175" y="1395150"/>
            <a:ext cx="5911800" cy="7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4" name="Google Shape;134;p18" title="{&quot;red&quot;:0,&quot;green&quot;:0,&quot;blue&quot;:0,&quot;origURL&quot;:&quot;http://www.texrendr.com/?eqn=%5C%5B%0Ah_%7B%5Ctext%7BManhattan%7D%7D(a%2Cb)%20%3D%20%7Cx_a%20-%20x_b%7C%20%2B%20%7Cy_a%20-%20y_b%7C%0A%5C%5D#0&quot;,&quot;size&quot;:26,&quot;width&quot;:411.5196850393701,&quot;height&quot;:358.20472440944883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375" y="1593987"/>
            <a:ext cx="5613399" cy="43043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8"/>
          <p:cNvSpPr txBox="1"/>
          <p:nvPr/>
        </p:nvSpPr>
        <p:spPr>
          <a:xfrm>
            <a:off x="336075" y="2424625"/>
            <a:ext cx="4971600" cy="3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Measures distance by counting only horizontal and vertical steps.</a:t>
            </a:r>
            <a:endParaRPr sz="25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Best for grid maps without diagonal movement.</a:t>
            </a:r>
            <a:br>
              <a:rPr lang="en-US" sz="2500">
                <a:solidFill>
                  <a:schemeClr val="dk1"/>
                </a:solidFill>
              </a:rPr>
            </a:br>
            <a:r>
              <a:rPr lang="en-US" sz="2500">
                <a:solidFill>
                  <a:schemeClr val="dk1"/>
                </a:solidFill>
              </a:rPr>
              <a:t> Produces staircase-like paths.</a:t>
            </a:r>
            <a:endParaRPr sz="2500">
              <a:solidFill>
                <a:schemeClr val="dk1"/>
              </a:solidFill>
            </a:endParaRPr>
          </a:p>
        </p:txBody>
      </p:sp>
      <p:pic>
        <p:nvPicPr>
          <p:cNvPr id="136" name="Google Shape;136;p18" title="manhattan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1375" y="1346192"/>
            <a:ext cx="4537454" cy="47860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19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sp>
        <p:nvSpPr>
          <p:cNvPr id="143" name="Google Shape;143;p19"/>
          <p:cNvSpPr txBox="1"/>
          <p:nvPr>
            <p:ph type="title"/>
          </p:nvPr>
        </p:nvSpPr>
        <p:spPr>
          <a:xfrm>
            <a:off x="599525" y="136292"/>
            <a:ext cx="10515600" cy="10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 sz="6000">
                <a:latin typeface="Arial"/>
                <a:ea typeface="Arial"/>
                <a:cs typeface="Arial"/>
                <a:sym typeface="Arial"/>
              </a:rPr>
              <a:t>Euclidian Heuristics</a:t>
            </a:r>
            <a:endParaRPr sz="6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19" title="{&quot;red&quot;:0,&quot;green&quot;:0,&quot;blue&quot;:0,&quot;origURL&quot;:&quot;http://www.texrendr.com/?eqn=%5C%5B%0Ah_%7B%5Ctext%7BEuclidean%7D%7D(a%2Cb)%20%3D%20%5Csqrt%7B(x_a%20-%20x_b)%5E2%20%2B%20(y_a%20-%20y_b)%5E2%7D%0A%5C%5D#0&quot;,&quot;size&quot;:24,&quot;width&quot;:465.496062992126,&quot;height&quot;:358.20472440944883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075" y="1298238"/>
            <a:ext cx="7111601" cy="58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/>
        </p:nvSpPr>
        <p:spPr>
          <a:xfrm>
            <a:off x="336075" y="2424625"/>
            <a:ext cx="5052900" cy="3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Measures the straight-line distance between two points.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Best when diagonal or free-direction movement is allowed.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n-US" sz="2800">
                <a:solidFill>
                  <a:schemeClr val="dk1"/>
                </a:solidFill>
              </a:rPr>
              <a:t>Produces smoother, more direct paths.</a:t>
            </a:r>
            <a:endParaRPr sz="45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46" name="Google Shape;146;p19" title="euclidian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31176" y="1346192"/>
            <a:ext cx="4508425" cy="4744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p20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sp>
        <p:nvSpPr>
          <p:cNvPr id="153" name="Google Shape;153;p20"/>
          <p:cNvSpPr txBox="1"/>
          <p:nvPr>
            <p:ph type="title"/>
          </p:nvPr>
        </p:nvSpPr>
        <p:spPr>
          <a:xfrm>
            <a:off x="599525" y="136292"/>
            <a:ext cx="10515600" cy="10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 sz="6000">
                <a:latin typeface="Arial"/>
                <a:ea typeface="Arial"/>
                <a:cs typeface="Arial"/>
                <a:sym typeface="Arial"/>
              </a:rPr>
              <a:t>Terrain Penalized Heuristics</a:t>
            </a:r>
            <a:endParaRPr sz="6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20" title="{&quot;red&quot;:0,&quot;green&quot;:0,&quot;blue&quot;:0,&quot;origURL&quot;:&quot;http://www.texrendr.com/?eqn=%5C%5B%0Ah_%7B%5Ctext%7BTerrain%7D%7D(a)%20%3D%20d_%7B%5Ctext%7Beuclidean%7D%7D(a%2C%5Ctext%7Bgoal%7D)%20%0A%2B%20k%20%5Ccdot%20%5Csum_%7Bi%20%5Cin%20%5Ctext%7Bneighbors%7D(a)%7D%20%5Ctext%7Bcost%7D(i)%0A%5C%5D#0&quot;,&quot;size&quot;:24,&quot;width&quot;:465.496062992126,&quot;height&quot;:358.20472440944883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175" y="1395150"/>
            <a:ext cx="6887424" cy="74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0"/>
          <p:cNvSpPr txBox="1"/>
          <p:nvPr/>
        </p:nvSpPr>
        <p:spPr>
          <a:xfrm>
            <a:off x="336075" y="2424625"/>
            <a:ext cx="4925100" cy="3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Adds extra cost for moving through difficult terrain (rocks, sand, steep areas).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Helps avoid high-cost or unsafe regions, even if the path is longer.</a:t>
            </a:r>
            <a:endParaRPr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lang="en-US" sz="2500">
                <a:solidFill>
                  <a:schemeClr val="dk1"/>
                </a:solidFill>
              </a:rPr>
              <a:t>Not admissible because penalties may exceed optimal cost</a:t>
            </a:r>
            <a:endParaRPr sz="42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56" name="Google Shape;156;p20" title="terrain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06999" y="1346192"/>
            <a:ext cx="4547814" cy="47860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1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21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sp>
        <p:nvSpPr>
          <p:cNvPr id="163" name="Google Shape;163;p21"/>
          <p:cNvSpPr txBox="1"/>
          <p:nvPr>
            <p:ph type="title"/>
          </p:nvPr>
        </p:nvSpPr>
        <p:spPr>
          <a:xfrm>
            <a:off x="599525" y="136292"/>
            <a:ext cx="10515600" cy="105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 sz="5400">
                <a:latin typeface="Arial"/>
                <a:ea typeface="Arial"/>
                <a:cs typeface="Arial"/>
                <a:sym typeface="Arial"/>
              </a:rPr>
              <a:t>Path of Least Regret Heuristics</a:t>
            </a:r>
            <a:endParaRPr sz="5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21" title="{&quot;red&quot;:0,&quot;green&quot;:0,&quot;blue&quot;:0,&quot;origURL&quot;:&quot;http://www.texrendr.com/?eqn=%5C%5B%0Ah_%7B%5Ctext%7BLeastRegret%7D%7D(a)%20%3D%0Ad_%7B%5Ctext%7Beuclidean%7D%7D(a%2C%5Ctext%7Bgoal%7D)%20%0A%2B%20%5Calpha%20%5Ccdot%20%5Clog%5Cleft(1%20%2B%20%5Ctext%7BVar%7D(%5Ctext%7Blocal%20costs%7D)%5Cright)%0A%5C%5D#0&quot;,&quot;size&quot;:24,&quot;width&quot;:465.496062992126,&quot;height&quot;:358.20472440944883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675" y="1496650"/>
            <a:ext cx="10441949" cy="43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1"/>
          <p:cNvSpPr txBox="1"/>
          <p:nvPr/>
        </p:nvSpPr>
        <p:spPr>
          <a:xfrm>
            <a:off x="313675" y="2236550"/>
            <a:ext cx="5134200" cy="36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>
                <a:solidFill>
                  <a:schemeClr val="dk1"/>
                </a:solidFill>
              </a:rPr>
              <a:t>Penalizes areas with high variance in terrain cost (unstable or unpredictable ground).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>
                <a:solidFill>
                  <a:schemeClr val="dk1"/>
                </a:solidFill>
              </a:rPr>
              <a:t>Favors consistent, low-risk regions over risky ones.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>
                <a:solidFill>
                  <a:schemeClr val="dk1"/>
                </a:solidFill>
              </a:rPr>
              <a:t>Useful in noisy or uncertain environments.</a:t>
            </a:r>
            <a:endParaRPr sz="43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66" name="Google Shape;166;p21" title="path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6450" y="2062875"/>
            <a:ext cx="4295650" cy="451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/>
          <p:nvPr>
            <p:ph type="title"/>
          </p:nvPr>
        </p:nvSpPr>
        <p:spPr>
          <a:xfrm>
            <a:off x="582428" y="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Arial"/>
                <a:ea typeface="Arial"/>
                <a:cs typeface="Arial"/>
                <a:sym typeface="Arial"/>
              </a:rPr>
              <a:t>Battery System &amp; Recharge Logic </a:t>
            </a:r>
            <a:endParaRPr sz="5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587375" y="1501775"/>
            <a:ext cx="56895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449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2140"/>
              <a:buFont typeface="Arial"/>
              <a:buChar char="•"/>
            </a:pPr>
            <a:r>
              <a:rPr lang="en-US" sz="2140">
                <a:latin typeface="Arial"/>
                <a:ea typeface="Arial"/>
                <a:cs typeface="Arial"/>
                <a:sym typeface="Arial"/>
              </a:rPr>
              <a:t>Battery starts at 100%.</a:t>
            </a:r>
            <a:br>
              <a:rPr lang="en-US" sz="2140">
                <a:latin typeface="Arial"/>
                <a:ea typeface="Arial"/>
                <a:cs typeface="Arial"/>
                <a:sym typeface="Arial"/>
              </a:rPr>
            </a:br>
            <a:endParaRPr sz="2140">
              <a:latin typeface="Arial"/>
              <a:ea typeface="Arial"/>
              <a:cs typeface="Arial"/>
              <a:sym typeface="Arial"/>
            </a:endParaRPr>
          </a:p>
          <a:p>
            <a:pPr indent="-36449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140"/>
              <a:buFont typeface="Arial"/>
              <a:buChar char="•"/>
            </a:pPr>
            <a:r>
              <a:rPr lang="en-US" sz="2140">
                <a:latin typeface="Arial"/>
                <a:ea typeface="Arial"/>
                <a:cs typeface="Arial"/>
                <a:sym typeface="Arial"/>
              </a:rPr>
              <a:t>Battery decreases by a fixed amount at each step.</a:t>
            </a:r>
            <a:br>
              <a:rPr lang="en-US" sz="2140">
                <a:latin typeface="Arial"/>
                <a:ea typeface="Arial"/>
                <a:cs typeface="Arial"/>
                <a:sym typeface="Arial"/>
              </a:rPr>
            </a:br>
            <a:endParaRPr sz="2140">
              <a:latin typeface="Arial"/>
              <a:ea typeface="Arial"/>
              <a:cs typeface="Arial"/>
              <a:sym typeface="Arial"/>
            </a:endParaRPr>
          </a:p>
          <a:p>
            <a:pPr indent="-36449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140"/>
              <a:buFont typeface="Arial"/>
              <a:buChar char="•"/>
            </a:pPr>
            <a:r>
              <a:rPr lang="en-US" sz="2140">
                <a:latin typeface="Arial"/>
                <a:ea typeface="Arial"/>
                <a:cs typeface="Arial"/>
                <a:sym typeface="Arial"/>
              </a:rPr>
              <a:t>If battery falls below 20%, the system switches to emergency mode.</a:t>
            </a:r>
            <a:br>
              <a:rPr lang="en-US" sz="2140">
                <a:latin typeface="Arial"/>
                <a:ea typeface="Arial"/>
                <a:cs typeface="Arial"/>
                <a:sym typeface="Arial"/>
              </a:rPr>
            </a:br>
            <a:endParaRPr sz="2140">
              <a:latin typeface="Arial"/>
              <a:ea typeface="Arial"/>
              <a:cs typeface="Arial"/>
              <a:sym typeface="Arial"/>
            </a:endParaRPr>
          </a:p>
          <a:p>
            <a:pPr indent="-36449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140"/>
              <a:buFont typeface="Arial"/>
              <a:buChar char="•"/>
            </a:pPr>
            <a:r>
              <a:rPr lang="en-US" sz="2140">
                <a:latin typeface="Arial"/>
                <a:ea typeface="Arial"/>
                <a:cs typeface="Arial"/>
                <a:sym typeface="Arial"/>
              </a:rPr>
              <a:t>If the direct path requires more than 100% battery, recharge stops must be added.</a:t>
            </a:r>
            <a:br>
              <a:rPr lang="en-US" sz="2140">
                <a:latin typeface="Arial"/>
                <a:ea typeface="Arial"/>
                <a:cs typeface="Arial"/>
                <a:sym typeface="Arial"/>
              </a:rPr>
            </a:br>
            <a:endParaRPr sz="2140">
              <a:latin typeface="Arial"/>
              <a:ea typeface="Arial"/>
              <a:cs typeface="Arial"/>
              <a:sym typeface="Arial"/>
            </a:endParaRPr>
          </a:p>
          <a:p>
            <a:pPr indent="-36449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140"/>
              <a:buFont typeface="Arial"/>
              <a:buChar char="•"/>
            </a:pPr>
            <a:r>
              <a:rPr lang="en-US" sz="2140">
                <a:latin typeface="Arial"/>
                <a:ea typeface="Arial"/>
                <a:cs typeface="Arial"/>
                <a:sym typeface="Arial"/>
              </a:rPr>
              <a:t>The route can contain up to a maximum of eight segments.</a:t>
            </a:r>
            <a:br>
              <a:rPr lang="en-US" sz="2140">
                <a:latin typeface="Arial"/>
                <a:ea typeface="Arial"/>
                <a:cs typeface="Arial"/>
                <a:sym typeface="Arial"/>
              </a:rPr>
            </a:br>
            <a:endParaRPr sz="2140">
              <a:latin typeface="Arial"/>
              <a:ea typeface="Arial"/>
              <a:cs typeface="Arial"/>
              <a:sym typeface="Arial"/>
            </a:endParaRPr>
          </a:p>
          <a:p>
            <a:pPr indent="-36449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140"/>
              <a:buFont typeface="Arial"/>
              <a:buChar char="•"/>
            </a:pPr>
            <a:r>
              <a:rPr lang="en-US" sz="2140">
                <a:latin typeface="Arial"/>
                <a:ea typeface="Arial"/>
                <a:cs typeface="Arial"/>
                <a:sym typeface="Arial"/>
              </a:rPr>
              <a:t>A recharge station will always be available within two cells of any position.</a:t>
            </a:r>
            <a:endParaRPr sz="214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214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2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0" lang="en-US">
                <a:latin typeface="Arial"/>
                <a:ea typeface="Arial"/>
                <a:cs typeface="Arial"/>
                <a:sym typeface="Arial"/>
              </a:rPr>
              <a:t>|  </a:t>
            </a:r>
            <a:fld id="{00000000-1234-1234-1234-123412341234}" type="slidenum">
              <a:rPr b="0"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 b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22" title="battery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9275" y="1478100"/>
            <a:ext cx="5552127" cy="465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/>
          <p:nvPr>
            <p:ph type="title"/>
          </p:nvPr>
        </p:nvSpPr>
        <p:spPr>
          <a:xfrm>
            <a:off x="587378" y="-186325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latin typeface="Arial"/>
                <a:ea typeface="Arial"/>
                <a:cs typeface="Arial"/>
                <a:sym typeface="Arial"/>
              </a:rPr>
              <a:t>Reflex Agent: React to Danger </a:t>
            </a:r>
            <a:endParaRPr sz="5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3"/>
          <p:cNvSpPr txBox="1"/>
          <p:nvPr>
            <p:ph idx="1" type="body"/>
          </p:nvPr>
        </p:nvSpPr>
        <p:spPr>
          <a:xfrm>
            <a:off x="360376" y="1455425"/>
            <a:ext cx="54534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On encountering hazardous terrain, the rover adds the cell to its avoid list.</a:t>
            </a:r>
            <a:br>
              <a:rPr lang="en-US" sz="19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It immediately backtracks 2–3 steps to a safe position.</a:t>
            </a:r>
            <a:br>
              <a:rPr lang="en-US" sz="19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On stepping into a trap, the rover converts the cell into a permanent rock and triggers a red flash alert.</a:t>
            </a:r>
            <a:br>
              <a:rPr lang="en-US" sz="19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With low battery, the rover reroutes to the nearest recharge point.</a:t>
            </a:r>
            <a:br>
              <a:rPr lang="en-US" sz="1900">
                <a:latin typeface="Arial"/>
                <a:ea typeface="Arial"/>
                <a:cs typeface="Arial"/>
                <a:sym typeface="Arial"/>
              </a:rPr>
            </a:b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pon entering either hazardous or trap terrain, the rover instantly backtracks 2–3 steps, stores the cell in its avoidance memory, and initiates a fresh path replanning cycle.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3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0" lang="en-US">
                <a:latin typeface="Arial"/>
                <a:ea typeface="Arial"/>
                <a:cs typeface="Arial"/>
                <a:sym typeface="Arial"/>
              </a:rPr>
              <a:t>|  </a:t>
            </a:r>
            <a:fld id="{00000000-1234-1234-1234-123412341234}" type="slidenum">
              <a:rPr b="0"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 b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23" title="backtracking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6176" y="1291775"/>
            <a:ext cx="6073425" cy="4080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 txBox="1"/>
          <p:nvPr>
            <p:ph type="title"/>
          </p:nvPr>
        </p:nvSpPr>
        <p:spPr>
          <a:xfrm>
            <a:off x="587378" y="-186325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latin typeface="Arial"/>
                <a:ea typeface="Arial"/>
                <a:cs typeface="Arial"/>
                <a:sym typeface="Arial"/>
              </a:rPr>
              <a:t>Comparison</a:t>
            </a:r>
            <a:r>
              <a:rPr lang="en-US" sz="5400">
                <a:latin typeface="Arial"/>
                <a:ea typeface="Arial"/>
                <a:cs typeface="Arial"/>
                <a:sym typeface="Arial"/>
              </a:rPr>
              <a:t> of  the </a:t>
            </a:r>
            <a:r>
              <a:rPr lang="en-US" sz="5400">
                <a:latin typeface="Arial"/>
                <a:ea typeface="Arial"/>
                <a:cs typeface="Arial"/>
                <a:sym typeface="Arial"/>
              </a:rPr>
              <a:t>Heuristics</a:t>
            </a:r>
            <a:endParaRPr sz="5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4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0" lang="en-US">
                <a:latin typeface="Arial"/>
                <a:ea typeface="Arial"/>
                <a:cs typeface="Arial"/>
                <a:sym typeface="Arial"/>
              </a:rPr>
              <a:t>|  </a:t>
            </a:r>
            <a:fld id="{00000000-1234-1234-1234-123412341234}" type="slidenum">
              <a:rPr b="0"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 b="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2" name="Google Shape;192;p24"/>
          <p:cNvGraphicFramePr/>
          <p:nvPr/>
        </p:nvGraphicFramePr>
        <p:xfrm>
          <a:off x="952500" y="201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{6F12F5D6-5523-4805-9795-797193D3FA4D}</a:tableStyleId>
              </a:tblPr>
              <a:tblGrid>
                <a:gridCol w="2571750"/>
                <a:gridCol w="2571750"/>
                <a:gridCol w="2571750"/>
                <a:gridCol w="2571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Heuristic</a:t>
                      </a:r>
                      <a:endParaRPr b="1"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How It Works</a:t>
                      </a:r>
                      <a:endParaRPr b="1"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Strength</a:t>
                      </a:r>
                      <a:endParaRPr b="1"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/>
                        <a:t>Limitation</a:t>
                      </a:r>
                      <a:endParaRPr b="1" sz="15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Manhattan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Counts horizontal &amp; vertical steps only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Simple, fast, perfect for grid movement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Paths can look blocky/staircase-like</a:t>
                      </a:r>
                      <a:endParaRPr sz="15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Euclidean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Straight-line distance between points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Smooth, direct routes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Less accurate on strict grid movement</a:t>
                      </a:r>
                      <a:endParaRPr sz="15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Terrain-Penalized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Adds cost based on terrain difficulty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Avoids unsafe or high-cost regions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Inadmissible; may give longer paths</a:t>
                      </a:r>
                      <a:endParaRPr sz="15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Path of Least Regret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Penalizes areas with unstable terrain values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Favors stable, predictable ground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/>
                        <a:t>Can avoid areas unnecessarily</a:t>
                      </a:r>
                      <a:endParaRPr sz="15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latin typeface="Arial"/>
                <a:ea typeface="Arial"/>
                <a:cs typeface="Arial"/>
                <a:sym typeface="Arial"/>
              </a:rPr>
              <a:t>Unique Features </a:t>
            </a:r>
            <a:endParaRPr sz="6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5"/>
          <p:cNvSpPr txBox="1"/>
          <p:nvPr>
            <p:ph idx="1" type="body"/>
          </p:nvPr>
        </p:nvSpPr>
        <p:spPr>
          <a:xfrm>
            <a:off x="587376" y="1922600"/>
            <a:ext cx="46044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600">
                <a:latin typeface="Arial"/>
                <a:ea typeface="Arial"/>
                <a:cs typeface="Arial"/>
                <a:sym typeface="Arial"/>
              </a:rPr>
              <a:t>World Changes:</a:t>
            </a:r>
            <a:endParaRPr b="1" sz="2600"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spcBef>
                <a:spcPts val="100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3% random per step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scheduled</a:t>
            </a:r>
            <a:r>
              <a:rPr lang="en-US" sz="2600">
                <a:latin typeface="Arial"/>
                <a:ea typeface="Arial"/>
                <a:cs typeface="Arial"/>
                <a:sym typeface="Arial"/>
              </a:rPr>
              <a:t> changes (user)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600">
                <a:latin typeface="Arial"/>
                <a:ea typeface="Arial"/>
                <a:cs typeface="Arial"/>
                <a:sym typeface="Arial"/>
              </a:rPr>
              <a:t>Re-planning:</a:t>
            </a:r>
            <a:endParaRPr b="1" sz="2600"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spcBef>
                <a:spcPts val="100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Max 3 attempts 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Arial"/>
              <a:buChar char="•"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Fail 3x→ Rover dies (Red Flash)</a:t>
            </a:r>
            <a:br>
              <a:rPr lang="en-US" sz="2600">
                <a:latin typeface="Arial"/>
                <a:ea typeface="Arial"/>
                <a:cs typeface="Arial"/>
                <a:sym typeface="Arial"/>
              </a:rPr>
            </a:b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5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0" lang="en-US">
                <a:latin typeface="Arial"/>
                <a:ea typeface="Arial"/>
                <a:cs typeface="Arial"/>
                <a:sym typeface="Arial"/>
              </a:rPr>
              <a:t>|  </a:t>
            </a:r>
            <a:fld id="{00000000-1234-1234-1234-123412341234}" type="slidenum">
              <a:rPr b="0"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 b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4976" y="1494475"/>
            <a:ext cx="3357700" cy="435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/>
          <p:nvPr>
            <p:ph type="title"/>
          </p:nvPr>
        </p:nvSpPr>
        <p:spPr>
          <a:xfrm>
            <a:off x="594303" y="175250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latin typeface="Arial"/>
                <a:ea typeface="Arial"/>
                <a:cs typeface="Arial"/>
                <a:sym typeface="Arial"/>
              </a:rPr>
              <a:t>Unique Features </a:t>
            </a:r>
            <a:endParaRPr sz="6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6"/>
          <p:cNvSpPr txBox="1"/>
          <p:nvPr>
            <p:ph idx="1" type="body"/>
          </p:nvPr>
        </p:nvSpPr>
        <p:spPr>
          <a:xfrm>
            <a:off x="594301" y="1717225"/>
            <a:ext cx="69900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Novel Features: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Save/Load Grid (.json) — reuse maps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Radar System — 5×5 sensor view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Randomize Terrain — 2 surprise changes during the run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9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Compare All — view 4 paths at once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Clear Trails/Results — clean UI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Real World Use: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Drones, Self-driving Cars, Mars Rover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0" lang="en-US">
                <a:latin typeface="Arial"/>
                <a:ea typeface="Arial"/>
                <a:cs typeface="Arial"/>
                <a:sym typeface="Arial"/>
              </a:rPr>
              <a:t>|  </a:t>
            </a:r>
            <a:fld id="{00000000-1234-1234-1234-123412341234}" type="slidenum">
              <a:rPr b="0" lang="en-US">
                <a:latin typeface="Arial"/>
                <a:ea typeface="Arial"/>
                <a:cs typeface="Arial"/>
                <a:sym typeface="Arial"/>
              </a:rPr>
              <a:t>‹#›</a:t>
            </a:fld>
            <a:endParaRPr b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26"/>
          <p:cNvPicPr preferRelativeResize="0"/>
          <p:nvPr/>
        </p:nvPicPr>
        <p:blipFill rotWithShape="1">
          <a:blip r:embed="rId3">
            <a:alphaModFix/>
          </a:blip>
          <a:srcRect b="0" l="0" r="0" t="5177"/>
          <a:stretch/>
        </p:blipFill>
        <p:spPr>
          <a:xfrm>
            <a:off x="7748325" y="1925125"/>
            <a:ext cx="3812625" cy="380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/>
          <p:nvPr>
            <p:ph type="title"/>
          </p:nvPr>
        </p:nvSpPr>
        <p:spPr>
          <a:xfrm>
            <a:off x="698803" y="2239175"/>
            <a:ext cx="10515600" cy="1325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100"/>
              <a:t>THANK YOU</a:t>
            </a:r>
            <a:endParaRPr sz="7100"/>
          </a:p>
        </p:txBody>
      </p:sp>
      <p:sp>
        <p:nvSpPr>
          <p:cNvPr id="217" name="Google Shape;217;p2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